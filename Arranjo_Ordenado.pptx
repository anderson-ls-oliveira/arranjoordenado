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gelnxzrD4KOwPgKDAOFEFQpDCA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89A386-CE26-4AC0-A8ED-93DCB4A317E9}">
  <a:tblStyle styleId="{A589A386-CE26-4AC0-A8ED-93DCB4A317E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customschemas.google.com/relationships/presentationmetadata" Target="metadata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5" name="Google Shape;45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Arranjos Ordenados</a:t>
            </a:r>
            <a:endParaRPr/>
          </a:p>
        </p:txBody>
      </p:sp>
      <p:sp>
        <p:nvSpPr>
          <p:cNvPr id="85" name="Google Shape;85;p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>
                <a:solidFill>
                  <a:srgbClr val="888888"/>
                </a:solidFill>
              </a:rPr>
              <a:t>Experimento de Inserção e Exclusão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>
                <a:solidFill>
                  <a:srgbClr val="888888"/>
                </a:solidFill>
              </a:rPr>
              <a:t>Estruturas de Dados</a:t>
            </a:r>
            <a:endParaRPr/>
          </a:p>
        </p:txBody>
      </p:sp>
      <p:sp>
        <p:nvSpPr>
          <p:cNvPr id="86" name="Google Shape;86;p1"/>
          <p:cNvSpPr txBox="1"/>
          <p:nvPr>
            <p:ph type="ctrTitle"/>
          </p:nvPr>
        </p:nvSpPr>
        <p:spPr>
          <a:xfrm>
            <a:off x="3168900" y="6057875"/>
            <a:ext cx="2806200" cy="22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5"/>
              <a:buFont typeface="Calibri"/>
              <a:buNone/>
            </a:pPr>
            <a:r>
              <a:rPr lang="en-US" sz="1400"/>
              <a:t>Aluno: Anderson L. S. Oliveira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Estrutura de Dados: </a:t>
            </a:r>
            <a:r>
              <a:rPr lang="en-US"/>
              <a:t>Arranjo Ordenado</a:t>
            </a:r>
            <a:endParaRPr/>
          </a:p>
        </p:txBody>
      </p:sp>
      <p:sp>
        <p:nvSpPr>
          <p:cNvPr id="92" name="Google Shape;92;p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Um </a:t>
            </a:r>
            <a:r>
              <a:rPr lang="en-US" sz="2500"/>
              <a:t>arranjo ordenado</a:t>
            </a: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mantém os seus elementos sempre em ordem.</a:t>
            </a:r>
            <a:endParaRPr sz="25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Características: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Armazena números inteiros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Mantém ordenação automática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nserção desloca elementos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Exclusão também exige deslocamento</a:t>
            </a:r>
            <a:endParaRPr sz="25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Capacidade usada no experimento: 100.000 elementos</a:t>
            </a:r>
            <a:endParaRPr sz="2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UML da Classe ArranjoOrdenado</a:t>
            </a:r>
            <a:endParaRPr/>
          </a:p>
        </p:txBody>
      </p:sp>
      <p:sp>
        <p:nvSpPr>
          <p:cNvPr id="98" name="Google Shape;98;p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ArranjoOrdenado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------------------------------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- int[] arranjo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- int tamanho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- int capacidade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------------------------------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+ ArranjoOrdenado(int capacidade)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+ void inserir(int valor)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/>
              <a:t>+ void excluir(int valor)</a:t>
            </a:r>
            <a:endParaRPr sz="2500"/>
          </a:p>
          <a:p>
            <a:pPr indent="0" lvl="0" marL="342900" rtl="0" algn="l"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2500"/>
              <a:t>+ void percorrer(Consumer&lt;Integer&gt;)</a:t>
            </a:r>
            <a:endParaRPr sz="25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Processo</a:t>
            </a:r>
            <a:endParaRPr/>
          </a:p>
        </p:txBody>
      </p:sp>
      <p:sp>
        <p:nvSpPr>
          <p:cNvPr id="104" name="Google Shape;104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Inserção: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Encontrar a posição correta do elemento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Deslocar os elementos para a direita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Inserir o novo valor</a:t>
            </a:r>
            <a:endParaRPr sz="25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Exclusão: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Encontrar o elemento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Deslocar os elementos para a esquerda</a:t>
            </a:r>
            <a:endParaRPr sz="2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do </a:t>
            </a:r>
            <a:r>
              <a:rPr lang="en-US"/>
              <a:t>e</a:t>
            </a: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xperimento - Inserção</a:t>
            </a:r>
            <a:endParaRPr/>
          </a:p>
        </p:txBody>
      </p:sp>
      <p:graphicFrame>
        <p:nvGraphicFramePr>
          <p:cNvPr id="110" name="Google Shape;110;p5"/>
          <p:cNvGraphicFramePr/>
          <p:nvPr/>
        </p:nvGraphicFramePr>
        <p:xfrm>
          <a:off x="457188" y="26975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{A589A386-CE26-4AC0-A8ED-93DCB4A317E9}</a:tableStyleId>
              </a:tblPr>
              <a:tblGrid>
                <a:gridCol w="2743200"/>
                <a:gridCol w="2743200"/>
                <a:gridCol w="2743200"/>
              </a:tblGrid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de Inserção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 Médio (ns)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Desvio Padrão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Crescente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6.9075374E8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3.293494E6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Decrescente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6.85612145E8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1.4887207178E9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Aleatório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7.43845246E8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2.333601046E8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do </a:t>
            </a:r>
            <a:r>
              <a:rPr lang="en-US"/>
              <a:t>e</a:t>
            </a: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xperimento - Exclusão</a:t>
            </a:r>
            <a:endParaRPr/>
          </a:p>
        </p:txBody>
      </p:sp>
      <p:graphicFrame>
        <p:nvGraphicFramePr>
          <p:cNvPr id="116" name="Google Shape;116;p6"/>
          <p:cNvGraphicFramePr/>
          <p:nvPr/>
        </p:nvGraphicFramePr>
        <p:xfrm>
          <a:off x="457200" y="26975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{A589A386-CE26-4AC0-A8ED-93DCB4A317E9}</a:tableStyleId>
              </a:tblPr>
              <a:tblGrid>
                <a:gridCol w="2743200"/>
                <a:gridCol w="2743200"/>
                <a:gridCol w="2743200"/>
              </a:tblGrid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de Exclusão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 Médio (ns)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Desvio Padrão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Crescente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2.27754282E8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6.798707E6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Decrescente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6.89827005E8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1.39528654E7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Aleatório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6.37637495E8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3.36363519E7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dos Resultados</a:t>
            </a:r>
            <a:endParaRPr/>
          </a:p>
        </p:txBody>
      </p:sp>
      <p:sp>
        <p:nvSpPr>
          <p:cNvPr id="122" name="Google Shape;122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Inserção: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Inserções exigem deslocamento de elementos.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Quanto maior o deslocamento necessário, maior o tempo.</a:t>
            </a:r>
            <a:endParaRPr sz="25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4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Exclusão: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exclusão também exige deslocamentos.</a:t>
            </a:r>
            <a:endParaRPr sz="2500"/>
          </a:p>
          <a:p>
            <a:pPr indent="-29845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00"/>
              <a:buChar char="•"/>
            </a:pPr>
            <a:r>
              <a:rPr lang="en-US" sz="2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Dependendo da posição do elemento removido, o custo pode variar.</a:t>
            </a:r>
            <a:endParaRPr sz="2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Conclusão</a:t>
            </a:r>
            <a:endParaRPr/>
          </a:p>
        </p:txBody>
      </p:sp>
      <p:sp>
        <p:nvSpPr>
          <p:cNvPr id="128" name="Google Shape;128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500">
                <a:latin typeface="Arial"/>
                <a:ea typeface="Arial"/>
                <a:cs typeface="Arial"/>
                <a:sym typeface="Arial"/>
              </a:rPr>
              <a:t>Os experimentos mostraram que o tempo das operações muda dependendo da forma como os dados são inseridos ou removidos do arranjo. </a:t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500">
                <a:latin typeface="Arial"/>
                <a:ea typeface="Arial"/>
                <a:cs typeface="Arial"/>
                <a:sym typeface="Arial"/>
              </a:rPr>
              <a:t>Nos resultados obtidos, a inserção e exclusão em ordem crescente foram as mais rápidas, enquanto os casos de ordem aleatória foram as mais demoradas.</a:t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4000"/>
              <a:buFont typeface="Arial"/>
              <a:buNone/>
            </a:pPr>
            <a:r>
              <a:t/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500">
                <a:latin typeface="Arial"/>
                <a:ea typeface="Arial"/>
                <a:cs typeface="Arial"/>
                <a:sym typeface="Arial"/>
              </a:rPr>
              <a:t>Isso provavelmente acontece porque, em alguns casos é necessário mover vários elementos dentro do arranjo para manter a ordem. Quanto mais elementos precisam ser movidos, maior será o tempo da operação.</a:t>
            </a:r>
            <a:endParaRPr sz="2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