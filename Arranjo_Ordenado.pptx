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jHl2whEdyoCI+q9FUdSu8B0VC+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032439-F29E-4A91-98AA-5B8249697A69}">
  <a:tblStyle styleId="{5A032439-F29E-4A91-98AA-5B8249697A6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e66e988a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ce66e988a9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e66e988a9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ce66e988a9_1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e66e988a9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ce66e988a9_1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Arranjos Ordenados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Experimento de Inserção e Exclusão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Estruturas de Dados</a:t>
            </a:r>
            <a:endParaRPr/>
          </a:p>
        </p:txBody>
      </p:sp>
      <p:sp>
        <p:nvSpPr>
          <p:cNvPr id="86" name="Google Shape;86;p1"/>
          <p:cNvSpPr txBox="1"/>
          <p:nvPr>
            <p:ph type="ctrTitle"/>
          </p:nvPr>
        </p:nvSpPr>
        <p:spPr>
          <a:xfrm>
            <a:off x="3168900" y="6057875"/>
            <a:ext cx="28062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5"/>
              <a:buFont typeface="Calibri"/>
              <a:buNone/>
            </a:pPr>
            <a:r>
              <a:rPr lang="en-US" sz="1400"/>
              <a:t>Aluno: Anderson L. S. Oliveira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Objetivo</a:t>
            </a:r>
            <a:endParaRPr/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457200" y="1600200"/>
            <a:ext cx="8229600" cy="46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Implementar a estrutura de dados ArranjoOrdenado capaz de manter números inteiros em ordem crescente e ordem decrescente.</a:t>
            </a:r>
            <a:br>
              <a:rPr b="1" lang="en-US" sz="2200">
                <a:latin typeface="Arial"/>
                <a:ea typeface="Arial"/>
                <a:cs typeface="Arial"/>
                <a:sym typeface="Arial"/>
              </a:rPr>
            </a:b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Além disso, realizar um experimento científico para medir o desempenho das operações de inserção e e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clusão</a:t>
            </a:r>
            <a:br>
              <a:rPr b="1" lang="en-US" sz="2200">
                <a:latin typeface="Arial"/>
                <a:ea typeface="Arial"/>
                <a:cs typeface="Arial"/>
                <a:sym typeface="Arial"/>
              </a:rPr>
            </a:b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Para diferentes formas de entrada de dados: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crescente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decrescente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aleatóri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a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e66e988a9_1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de Dados: </a:t>
            </a:r>
            <a:r>
              <a:rPr lang="en-US"/>
              <a:t>Arranjo Ordenado</a:t>
            </a:r>
            <a:endParaRPr/>
          </a:p>
        </p:txBody>
      </p:sp>
      <p:sp>
        <p:nvSpPr>
          <p:cNvPr id="98" name="Google Shape;98;g3ce66e988a9_1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Um arranjo ordenado mantém seus elementos sempre organizados de acordo com um critério de ordem.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Características: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Armazena números inteiros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Mantém ordenação automática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Inserir pode exigir deslocamento de elementos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Excluir também pode exigir deslocamento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Capacidade usada no experimento: 100.000 elementos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UML da Classe ArranjoOrdenado</a:t>
            </a:r>
            <a:endParaRPr/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387"/>
              <a:t>ArranjoOrdenado</a:t>
            </a:r>
            <a:endParaRPr sz="1387"/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387"/>
              <a:t>--------------------------------------------------------------------------</a:t>
            </a:r>
            <a:endParaRPr sz="1387"/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387"/>
              <a:t>- int[] arranjo</a:t>
            </a:r>
            <a:endParaRPr sz="1387"/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387"/>
              <a:t>- int capacidade</a:t>
            </a:r>
            <a:endParaRPr sz="1387"/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387"/>
              <a:t>- int tamanho</a:t>
            </a:r>
            <a:endParaRPr sz="1387"/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387"/>
              <a:t>- boolean crescente</a:t>
            </a:r>
            <a:endParaRPr sz="1387"/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387"/>
              <a:t>---------------------------------------------------------------------------</a:t>
            </a:r>
            <a:endParaRPr sz="1387"/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387"/>
              <a:t>+ ArranjoOrdenado(int capacidade, boolean crescente)</a:t>
            </a:r>
            <a:endParaRPr sz="1387"/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387"/>
              <a:t>+ void inserir(int valor)</a:t>
            </a:r>
            <a:endParaRPr sz="1387"/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387"/>
              <a:t>+ void excluir(int valor)</a:t>
            </a:r>
            <a:endParaRPr sz="1387"/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387"/>
              <a:t>+ void percorrer(Consumer&lt;Integer&gt;)</a:t>
            </a:r>
            <a:endParaRPr sz="1387"/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387"/>
              <a:t>+ static long inserirCrescente(int n)</a:t>
            </a:r>
            <a:endParaRPr sz="1387"/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387"/>
              <a:t>+ static long inserirDescrescente(int n)</a:t>
            </a:r>
            <a:endParaRPr sz="1387"/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387"/>
              <a:t>+ static long inserirAleatorio(int n)</a:t>
            </a:r>
            <a:endParaRPr sz="1387"/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387"/>
              <a:t>+ static long excluirCrescente(int n)</a:t>
            </a:r>
            <a:endParaRPr sz="1387"/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387"/>
              <a:t>+ static long excluirDecrescente(int n)</a:t>
            </a:r>
            <a:endParaRPr sz="1387"/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387"/>
              <a:t>+ static long excluirAleatorio(int n)</a:t>
            </a:r>
            <a:endParaRPr sz="1387"/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387"/>
              <a:t>+ static double media(long[])</a:t>
            </a:r>
            <a:endParaRPr sz="1387"/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523"/>
              <a:buNone/>
            </a:pPr>
            <a:r>
              <a:rPr lang="en-US" sz="1387"/>
              <a:t>+ static double desvioPadrao(long[], double)</a:t>
            </a:r>
            <a:endParaRPr sz="1387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e66e988a9_1_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Implementação</a:t>
            </a:r>
            <a:endParaRPr/>
          </a:p>
        </p:txBody>
      </p:sp>
      <p:sp>
        <p:nvSpPr>
          <p:cNvPr id="110" name="Google Shape;110;g3ce66e988a9_1_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A ordenação é controlada por uma variável booleana: boolean crescente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if (crescente){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   if (valor &lt; arranjo[indice]){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       break;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   }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} else {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   if (valor &gt; arranjo[indice]){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       break;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   }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}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Se crescente = true 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ordem crescente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Se crescente = false 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ordem decrescente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Processo</a:t>
            </a:r>
            <a:endParaRPr/>
          </a:p>
        </p:txBody>
      </p:sp>
      <p:sp>
        <p:nvSpPr>
          <p:cNvPr id="116" name="Google Shape;116;p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Criar um novo ArranjoOrdenado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Capacidade de 100.000 elementos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Registrar tempo inicial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T1 = System.nanoTime()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Executar operação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Registrar tempo final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T2 = System.nanoTime()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Calcular tempo total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Total = T2 - T1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Cada experimento foi executado 100 vezes.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do </a:t>
            </a:r>
            <a:r>
              <a:rPr lang="en-US"/>
              <a:t>e</a:t>
            </a: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xperimento - Inserção</a:t>
            </a:r>
            <a:endParaRPr/>
          </a:p>
        </p:txBody>
      </p:sp>
      <p:graphicFrame>
        <p:nvGraphicFramePr>
          <p:cNvPr id="122" name="Google Shape;122;p5"/>
          <p:cNvGraphicFramePr/>
          <p:nvPr/>
        </p:nvGraphicFramePr>
        <p:xfrm>
          <a:off x="457188" y="2697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{5A032439-F29E-4A91-98AA-5B8249697A69}</a:tableStyleId>
              </a:tblPr>
              <a:tblGrid>
                <a:gridCol w="2743200"/>
                <a:gridCol w="2743200"/>
                <a:gridCol w="2743200"/>
              </a:tblGrid>
              <a:tr h="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 de Inserção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Ordenação crescente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Ordenação decrescente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Crescente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7.20E8 ± 8.21E7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7.20E8 ± 8.21E7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Decrescente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7.19E8 ± 7.66E7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7.19E8 ± 7.66E7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Aleatório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7.03E8 ± 1.54E8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7.03E8 ± 1.54E8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do </a:t>
            </a:r>
            <a:r>
              <a:rPr lang="en-US"/>
              <a:t>e</a:t>
            </a: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xperimento - Exclusão</a:t>
            </a:r>
            <a:endParaRPr/>
          </a:p>
        </p:txBody>
      </p:sp>
      <p:graphicFrame>
        <p:nvGraphicFramePr>
          <p:cNvPr id="128" name="Google Shape;128;p6"/>
          <p:cNvGraphicFramePr/>
          <p:nvPr/>
        </p:nvGraphicFramePr>
        <p:xfrm>
          <a:off x="457200" y="2697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{5A032439-F29E-4A91-98AA-5B8249697A69}</a:tableStyleId>
              </a:tblPr>
              <a:tblGrid>
                <a:gridCol w="2743200"/>
                <a:gridCol w="2743200"/>
                <a:gridCol w="2743200"/>
              </a:tblGrid>
              <a:tr h="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 de Exclusão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Tempo Médio (ns)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Desvio Padrão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Crescente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2.34E8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1.66E7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Decrescente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2.36E8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1.80E7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Aleatório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5.27E8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7.00E7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dos Resultados</a:t>
            </a:r>
            <a:endParaRPr/>
          </a:p>
        </p:txBody>
      </p:sp>
      <p:sp>
        <p:nvSpPr>
          <p:cNvPr id="134" name="Google Shape;134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Durante a operação de inserção: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O algoritmo precisa percorrer o arranjo para encontrar a posição correta.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Após encontrar a posição, pode ser necessário deslocar vários elementos.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Isso faz com que o custo da operação dependa de: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posição de inserção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quantidade de elementos deslocados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Nos resultados obtidos, os tempos foram relativamente próximos, indicando que o custo de percorrer o arranjo teve grande influência no tempo total.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e66e988a9_1_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dos Resultados</a:t>
            </a:r>
            <a:endParaRPr/>
          </a:p>
        </p:txBody>
      </p:sp>
      <p:sp>
        <p:nvSpPr>
          <p:cNvPr id="140" name="Google Shape;140;g3ce66e988a9_1_3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Na exclusão ocorre: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Busca pelo elemento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Deslocamento dos elementos para manter a ordem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Observações: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Exclusão crescente e decrescente tiveram tempos semelhantes.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Exclusão aleatória apresentou tempo maior.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Isso ocorre porque a posição do elemento removido pode exigir deslocamentos maiores dentro do arranjo.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/>
          </a:p>
        </p:txBody>
      </p:sp>
      <p:sp>
        <p:nvSpPr>
          <p:cNvPr id="146" name="Google Shape;146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Os experimentos permitiram analisar o comportamento da estrutura ArranjoOrdenado nas operações de inserção e exclusão.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Ambas as operações podem exigir deslocamento de elementos no arranjo.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 custo dessas operações cresce conforme o tamanho da estrutura.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 desempenho pode variar dependendo da posição onde a operação ocorre.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Esse tipo de estrutura é simples de implementar, mas pode apresentar custos elevados para inserções e exclusões em grandes conjuntos de dados.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